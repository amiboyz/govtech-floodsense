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GovTechAthon 2026 CONCEPT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FloodSense Investment Resilience</a:t>
            </a:r>
          </a:p>
          <a:p>
            <a:pPr>
              <a:spcBef>
                <a:spcPts val="600"/>
              </a:spcBef>
              <a:defRPr sz="1300">
                <a:solidFill>
                  <a:srgbClr val="93C5FD"/>
                </a:solidFill>
              </a:defRPr>
            </a:pPr>
            <a:r>
              <a:t>Platform Intelijen Risiko Banjir &amp; Ketahanan Investasi untuk Pengambilan Keputusan Jakarta Investment Centre (JIC) — DPMPTSP Provinsi DKI Jakarta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Mengubah risiko banjir dari 'faktor pembatal investasi' (deal-breaker) menjadi kepastian kalkulasi finansial berbasis data hidrologi presisi, simulasi rekayasa sipil terukur, dan asuransi parametrik.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7680960" cy="1737360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spcAft>
                <a:spcPts val="300"/>
              </a:spcAft>
            </a:pPr>
            <a:r>
              <a:rPr b="1" sz="950">
                <a:solidFill>
                  <a:srgbClr val="0284C7"/>
                </a:solidFill>
              </a:rPr>
              <a:t>Tanggal &amp; Lokasi   : </a:t>
            </a:r>
            <a:r>
              <a:rPr sz="950">
                <a:solidFill>
                  <a:srgbClr val="FFFFFF"/>
                </a:solidFill>
              </a:rPr>
              <a:t>September 2026, DKI Jakarta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284C7"/>
                </a:solidFill>
              </a:rPr>
              <a:t>Tema Kompetisi     : </a:t>
            </a:r>
            <a:r>
              <a:rPr sz="950">
                <a:solidFill>
                  <a:srgbClr val="FFFFFF"/>
                </a:solidFill>
              </a:rPr>
              <a:t>Smart Government &amp; Smart Economy (Mendukung SDG 11: Kota Berkelanjutan &amp; SDG 8: Pertumbuhan Ekonomi)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284C7"/>
                </a:solidFill>
              </a:rPr>
              <a:t>Judul Proyek       : </a:t>
            </a:r>
            <a:r>
              <a:rPr sz="950">
                <a:solidFill>
                  <a:srgbClr val="FFFFFF"/>
                </a:solidFill>
              </a:rPr>
              <a:t>FloodSense Investment Resilience: Platform Intelijen Risiko Banjir untuk Ketahanan Investasi Jakarta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284C7"/>
                </a:solidFill>
              </a:rPr>
              <a:t>Tim Pengusul       : </a:t>
            </a:r>
            <a:r>
              <a:rPr sz="950">
                <a:solidFill>
                  <a:srgbClr val="FFFFFF"/>
                </a:solidFill>
              </a:rPr>
              <a:t>Kolaborasi ASN Lintas OPD (Ketua: DPMPTSP / Jakarta Investment Centre; Anggota: Diskominfotik / JSC, Dinas SDA, BPBD)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284C7"/>
                </a:solidFill>
              </a:rPr>
              <a:t>Kontak Koordinator : </a:t>
            </a:r>
            <a:r>
              <a:rPr sz="950">
                <a:solidFill>
                  <a:srgbClr val="FFFFFF"/>
                </a:solidFill>
              </a:rPr>
              <a:t>jic@jakarta.go.id  |  dpmptsp@jakarta.go.id  |  Portal: https://invest.jakarta.go.id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</a:defRPr>
            </a:pPr>
            <a:r>
              <a:t>URBAN ISSUE (MANDATORY) — BAGIAN 1 DARI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Stigma Banjir sebagai 'Faktor Diskon' Investasi Jakarta &amp; Dampak Kerugian Riil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Menjawab Pertanyaan Wajib 1, 2, dan 3: Masalah Utama, Awal Mula Kejadian, dan Data Statistik Dampak Ekonomi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1460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Masalah yang Dihadapi Kota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Stigma Buta (Blind Risk Aversion): </a:t>
            </a:r>
            <a:r>
              <a:rPr sz="919">
                <a:solidFill>
                  <a:srgbClr val="334155"/>
                </a:solidFill>
              </a:rPr>
              <a:t>Calon investor global &amp; domestik kerap menganggap seluruh wilayah Jakarta rentan banjir tanpa dasar data spasial objektif.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Ancaman Capital Flight: </a:t>
            </a:r>
            <a:r>
              <a:rPr sz="919">
                <a:solidFill>
                  <a:srgbClr val="334155"/>
                </a:solidFill>
              </a:rPr>
              <a:t>Keraguan menanamkan modal pada kawasan strategis menyebabkan penundaan proyek dan potensi pengalihan investasi ke wilayah lain.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Informasi Terfragmentasi: </a:t>
            </a:r>
            <a:r>
              <a:rPr sz="919">
                <a:solidFill>
                  <a:srgbClr val="334155"/>
                </a:solidFill>
              </a:rPr>
              <a:t>Investor tidak memiliki rujukan resmi untuk mengetahui apakah lokasi proyek benar-benar terpapar banjir atau sudah terlindungi tanggul/pompa modern.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Ketidakpastian Asuransi: </a:t>
            </a:r>
            <a:r>
              <a:rPr sz="919">
                <a:solidFill>
                  <a:srgbClr val="334155"/>
                </a:solidFill>
              </a:rPr>
              <a:t>Sulitnya mengestimasi risiko fisik membuat premi asuransi konvensional tinggi atau aset ditolak penjaminan.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371600"/>
            <a:ext cx="25146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Kapan &amp; Bagaimana Masalah Dimulai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Topografi Aluvial Rendah: </a:t>
            </a:r>
            <a:r>
              <a:rPr sz="919">
                <a:solidFill>
                  <a:srgbClr val="334155"/>
                </a:solidFill>
              </a:rPr>
              <a:t>Secara alamiah Jakarta adalah dataran rendah yang dilintasi 13 aliran sungai utama dari hulu Jawa Barat bermuara ke Teluk Jakarta.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Penurunan Muka Tanah: </a:t>
            </a:r>
            <a:r>
              <a:rPr sz="919">
                <a:solidFill>
                  <a:srgbClr val="334155"/>
                </a:solidFill>
              </a:rPr>
              <a:t>Eksploitasi air tanah puluhan tahun memicu land subsidence di wilayah utara (pesisir) dengan laju 1–10 cm/tahun.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Urbanisasi Masif: </a:t>
            </a:r>
            <a:r>
              <a:rPr sz="919">
                <a:solidFill>
                  <a:srgbClr val="334155"/>
                </a:solidFill>
              </a:rPr>
              <a:t>Pertumbuhan kota mengurangi tutupan vegetasi dan daerah resapan alami menjadi kawasan terbangun padat.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Siklus Banjir Historis: </a:t>
            </a:r>
            <a:r>
              <a:rPr sz="919">
                <a:solidFill>
                  <a:srgbClr val="334155"/>
                </a:solidFill>
              </a:rPr>
              <a:t>Banjir besar tercatat 2007, 2013, 2020 hingga kini, dengan pergeseran pola cuaca ekstrem (fenomena cloudburst hujan lokal &gt;100 mm dalam hitungan jam).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9904" y="1371600"/>
            <a:ext cx="2514600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Konsekuensi Finansial &amp; Statistik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Kerugian Ekonomi Bappenas: </a:t>
            </a:r>
            <a:r>
              <a:rPr sz="919">
                <a:solidFill>
                  <a:srgbClr val="334155"/>
                </a:solidFill>
              </a:rPr>
              <a:t>Ditaksir Rp 5,2 Triliun hingga Rp 10+ Triliun per kejadian banjir besar di Jakarta akibat kerusakan aset dan kelumpuhan rantai pasok.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37 Pipeline Proyek Rp 115,15 T: </a:t>
            </a:r>
            <a:r>
              <a:rPr sz="919">
                <a:solidFill>
                  <a:srgbClr val="334155"/>
                </a:solidFill>
              </a:rPr>
              <a:t>Katalog investasi strategis JIC 2026 (Ready to Offer &amp; Sounding) memerlukan kepastian mitigasi agar bankable di mata komite investasi.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685 Fasilitas Investasi Terpetakan: </a:t>
            </a:r>
            <a:r>
              <a:rPr sz="919">
                <a:solidFill>
                  <a:srgbClr val="334155"/>
                </a:solidFill>
              </a:rPr>
              <a:t>204 Rumah Sakit, 185 Kampus/Sekolah, 123 Hotel, 134 Objek Vital Nasional terpapar risiko penghentian operasional (Business Interruption).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Downtime Operasional: </a:t>
            </a:r>
            <a:r>
              <a:rPr sz="919">
                <a:solidFill>
                  <a:srgbClr val="334155"/>
                </a:solidFill>
              </a:rPr>
              <a:t>Gangguan akses jalan dan infrastruktur utilitas memutus mobilitas tenaga kerja hingga berhari-hari.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GovTechAthon 2026 Concept Note  |  FloodSense Investment Resilience — JIC DPMPTSP DKI Jakarta  |  Slide 2 dari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</a:defRPr>
            </a:pPr>
            <a:r>
              <a:t>URBAN ISSUE (MANDATORY) — BAGIAN 2 DARI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Evaluasi Upaya Sebelumnya &amp; Urgensi Solusi Ketahanan Investasi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Menjawab Pertanyaan Wajib 4, 5, dan 6: Upaya Pemangku Kepentingan, Evaluasi Keberhasilan, dan Kebutuhan Solusi Baru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1460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Yang Telah Dilakukan Pemda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Infrastruktur Pengendali Fisik: </a:t>
            </a:r>
            <a:r>
              <a:rPr sz="919">
                <a:solidFill>
                  <a:srgbClr val="334155"/>
                </a:solidFill>
              </a:rPr>
              <a:t>Pemprov DKI membangun 222 rumah pompa stasioner, 17 pintu air pengendali aliran, dan 69 waduk/situ retensi pengendali banjir.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Jaringan Telemetri IoT: </a:t>
            </a:r>
            <a:r>
              <a:rPr sz="919">
                <a:solidFill>
                  <a:srgbClr val="334155"/>
                </a:solidFill>
              </a:rPr>
              <a:t>Memasang sensor pemantau real-time: 81 pos Tinggi Muka Air (TMA) dan 116 stasiun curah hujan (PCH) di Jabodetabek.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Normalisasi &amp; Sodetan Sungai: </a:t>
            </a:r>
            <a:r>
              <a:rPr sz="919">
                <a:solidFill>
                  <a:srgbClr val="334155"/>
                </a:solidFill>
              </a:rPr>
              <a:t>Pembangunan Sodetan Ciliwung ke KBT dan program pengerukan sedimen lumpur berkala oleh Dinas SDA.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Kanal Pelaporan Publik: </a:t>
            </a:r>
            <a:r>
              <a:rPr sz="919">
                <a:solidFill>
                  <a:srgbClr val="334155"/>
                </a:solidFill>
              </a:rPr>
              <a:t>Aplikasi pengaduan warga melalui JAKI, Cilicis, dan portal Sitaba Kementerian PUPR.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371600"/>
            <a:ext cx="25146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Mengapa Upaya Belum Cukup?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Silo Informasi Antar-Dinas: </a:t>
            </a:r>
            <a:r>
              <a:rPr sz="919">
                <a:solidFill>
                  <a:srgbClr val="334155"/>
                </a:solidFill>
              </a:rPr>
              <a:t>Data hidrologi hanya berhenti di layar pantau teknis SDA/BPBD, tidak pernah terhubung ke portal promosi investasi JIC/DPMPTSP.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Ketiadaan Metrik Finansial: </a:t>
            </a:r>
            <a:r>
              <a:rPr sz="919">
                <a:solidFill>
                  <a:srgbClr val="334155"/>
                </a:solidFill>
              </a:rPr>
              <a:t>Data teknis (misal: 'TMA 250 cm') tidak diterjemahkan menjadi bahasa perbankan/investor (CAPEX at risk, estimasi hari downtime operasional).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Perlakuan Risiko Biner: </a:t>
            </a:r>
            <a:r>
              <a:rPr sz="919">
                <a:solidFill>
                  <a:srgbClr val="334155"/>
                </a:solidFill>
              </a:rPr>
              <a:t>Investor memperlakukan banjir secara 'hitam-putih'. Tidak ada instrumen yang membuktikan efektivitas proteksi pompa/waduk terhadap tapak proyek.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Asuransi Konvensional Lambat: </a:t>
            </a:r>
            <a:r>
              <a:rPr sz="919">
                <a:solidFill>
                  <a:srgbClr val="334155"/>
                </a:solidFill>
              </a:rPr>
              <a:t>Survei klaim kerusakan fisik memakan waktu 3–6 bulan, gagal memberikan likuiditas cepat saat arus kas bisnis darurat terhenti.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9904" y="1371600"/>
            <a:ext cx="251460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Apa yang Dibutuhkan Sekarang?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Platform Intelijen Lintas Sektor: </a:t>
            </a:r>
            <a:r>
              <a:rPr sz="919">
                <a:solidFill>
                  <a:srgbClr val="334155"/>
                </a:solidFill>
              </a:rPr>
              <a:t>Jembatan digital yang menghubungkan data hidrometeorologi real-time dengan titik aset investasi strategis.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Dekomposisi Risiko Ilmiah: </a:t>
            </a:r>
            <a:r>
              <a:rPr sz="919">
                <a:solidFill>
                  <a:srgbClr val="334155"/>
                </a:solidFill>
              </a:rPr>
              <a:t>Memilah risiko secara presisi: luapan sungai (fluvial), genangan hujan lokal (pluvial), dan pasang laut (rob/coastal).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Kuantifikasi Nilai &amp; Mitigasi Sipil: </a:t>
            </a:r>
            <a:r>
              <a:rPr sz="919">
                <a:solidFill>
                  <a:srgbClr val="334155"/>
                </a:solidFill>
              </a:rPr>
              <a:t>Menghitung nilai eksposur finansial serta membuktikan penurunan risiko melalui rekayasa sipil &amp; akses transit TOD.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Data Oracle Asuransi Parametrik: </a:t>
            </a:r>
            <a:r>
              <a:rPr sz="919">
                <a:solidFill>
                  <a:srgbClr val="334155"/>
                </a:solidFill>
              </a:rPr>
              <a:t>Penyediaan data pemicu (trigger) objektif yang dapat diaudit untuk pencairan dana talangan darurat dalam 3–5 hari kerja.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GovTechAthon 2026 Concept Note  |  FloodSense Investment Resilience — JIC DPMPTSP DKI Jakarta  |  Slide 3 dari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</a:defRPr>
            </a:pPr>
            <a:r>
              <a:t>2. INOVASI PRODUK DIGITAL (OPTIONAL) — BAGIAN 1 DARI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FloodSense Investment Resilience: Bentuk Solusi &amp; Sasaran Pengguna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Pendekatan Solusi, Bentuk Platform Digital, Kebutuhan Integrasi Sistem, dan Segmentasi Pengguna Lintas Sektor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8862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88620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Bentuk Solusi &amp; Skala Integrasi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3611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Bentuk Produk Digital: </a:t>
            </a:r>
            <a:r>
              <a:rPr sz="910">
                <a:solidFill>
                  <a:srgbClr val="334155"/>
                </a:solidFill>
              </a:rPr>
              <a:t>Web GIS Application &amp; Spatial Decision Support System (DSS) interaktif yang dapat diakses calon investor global dan aparatur pemerintah daerah.</a:t>
            </a:r>
          </a:p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Single Source of Truth: </a:t>
            </a:r>
            <a:r>
              <a:rPr sz="910">
                <a:solidFill>
                  <a:srgbClr val="334155"/>
                </a:solidFill>
              </a:rPr>
              <a:t>Menyatukan 10 basis data teknis yang sebelumnya terisolasi ke dalam satu arsitektur terpadu (MySQL engine).</a:t>
            </a:r>
          </a:p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Skala Data Hidrologi: </a:t>
            </a:r>
            <a:r>
              <a:rPr sz="910">
                <a:solidFill>
                  <a:srgbClr val="334155"/>
                </a:solidFill>
              </a:rPr>
              <a:t>1.270.142 rekaman data TMA (81 Pos Sensor) dan 1.615.363 rekaman data Curah Hujan (116 Stasiun Telemetri).</a:t>
            </a:r>
          </a:p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Infrastruktur Terintegrasi: </a:t>
            </a:r>
            <a:r>
              <a:rPr sz="910">
                <a:solidFill>
                  <a:srgbClr val="334155"/>
                </a:solidFill>
              </a:rPr>
              <a:t>222 Rumah Pompa, 17 Pintu Air, 69 Waduk/Situ, 200 Ruas Sungai, dan 286 Simpul Transit (MRT, LRT, TransJakarta).</a:t>
            </a:r>
          </a:p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Aset Investasi Terpetakan: </a:t>
            </a:r>
            <a:r>
              <a:rPr sz="910">
                <a:solidFill>
                  <a:srgbClr val="334155"/>
                </a:solidFill>
              </a:rPr>
              <a:t>685 titik aset investasi (518 Basis JIC + 134 Objek Vital) dan 37 Pipeline Proyek Strategis Jakarta 2026 senilai Rp 115,15 Triliun.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371600"/>
            <a:ext cx="38862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1371600"/>
            <a:ext cx="38862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Sasaran Pengguna &amp; Nilai Tambah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810512"/>
            <a:ext cx="3611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Calon Investor Domestik &amp; Global: </a:t>
            </a:r>
            <a:r>
              <a:rPr sz="910">
                <a:solidFill>
                  <a:srgbClr val="334155"/>
                </a:solidFill>
              </a:rPr>
              <a:t>Melakukan due diligence mandiri, menguji skenario ketahanan tapak proyek, dan memperoleh jaminan kepastian berusaha yang bankable.</a:t>
            </a:r>
          </a:p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Jakarta Investment Centre (DPMPTSP): </a:t>
            </a:r>
            <a:r>
              <a:rPr sz="910">
                <a:solidFill>
                  <a:srgbClr val="334155"/>
                </a:solidFill>
              </a:rPr>
              <a:t>Menyajikan data risiko transparan saat roadshow promosi investasi dan mengawal kelayakan 37 pipeline proyek strategis 2026.</a:t>
            </a:r>
          </a:p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Pimpinan Daerah (Gubernur/Sekda): </a:t>
            </a:r>
            <a:r>
              <a:rPr sz="910">
                <a:solidFill>
                  <a:srgbClr val="334155"/>
                </a:solidFill>
              </a:rPr>
              <a:t>Dashboard eksekutif untuk melihat sebaran aset ekonomi bernilai tinggi yang terpapar ancaman cuaca ekstrem saat banjir Jakarta.</a:t>
            </a:r>
          </a:p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Perangkat Daerah Teknis (SDA &amp; BPBD): </a:t>
            </a:r>
            <a:r>
              <a:rPr sz="910">
                <a:solidFill>
                  <a:srgbClr val="334155"/>
                </a:solidFill>
              </a:rPr>
              <a:t>Mendapat umpan balik prioritas penguatan polder/pompa pada kawasan dengan konsentrasi modal dan fasilitas publik tertinggi.</a:t>
            </a:r>
          </a:p>
          <a:p>
            <a:pPr>
              <a:spcAft>
                <a:spcPts val="400"/>
              </a:spcAft>
            </a:pPr>
            <a:r>
              <a:rPr b="1" sz="910">
                <a:solidFill>
                  <a:srgbClr val="0F172A"/>
                </a:solidFill>
              </a:rPr>
              <a:t>•  Perbankan &amp; Sektor Asuransi: </a:t>
            </a:r>
            <a:r>
              <a:rPr sz="910">
                <a:solidFill>
                  <a:srgbClr val="334155"/>
                </a:solidFill>
              </a:rPr>
              <a:t>Memverifikasi kelayakan pembiayaan hijau (Taksonomi Hijau OJK) dan dasar perhitungan underwriting asuransi parametrik.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GovTechAthon 2026 Concept Note  |  FloodSense Investment Resilience — JIC DPMPTSP DKI Jakarta  |  Slide 4 dari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</a:defRPr>
            </a:pPr>
            <a:r>
              <a:t>2. INOVASI PRODUK DIGITAL (OPTIONAL) — BAGIAN 2 DARI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Mekanisme Kerja: Dari Sensor Hidrometeorologi ke Valuasi Finansial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Arsitektur Logika Ilmiah: Dua Jalur Hidrologi, Poligon Thiessen Tanpa Batas Wilayah, &amp; Dekomposisi Compound Flooding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874519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874519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Ingesti Data &amp; Spasial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1655063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Jaringan Sensor Telemetri: </a:t>
            </a:r>
            <a:r>
              <a:rPr sz="919">
                <a:solidFill>
                  <a:srgbClr val="334155"/>
                </a:solidFill>
              </a:rPr>
              <a:t>Data curah hujan jam-jaman dari 116 stasiun dan muka air dari 81 pos TMA.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Poligon Thiessen Alami: </a:t>
            </a:r>
            <a:r>
              <a:rPr sz="919">
                <a:solidFill>
                  <a:srgbClr val="334155"/>
                </a:solidFill>
              </a:rPr>
              <a:t>Menghitung hujan wilayah tanpa batas wilayah administrasi DKI (mencerminkan sifat hidrologi DAS hulu-hilir sejati).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Kamera CCTV Pintu Air: </a:t>
            </a:r>
            <a:r>
              <a:rPr sz="919">
                <a:solidFill>
                  <a:srgbClr val="334155"/>
                </a:solidFill>
              </a:rPr>
              <a:t>Verifikasi visual kondisi fisik air di pintu-pintu air utama.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1371600"/>
            <a:ext cx="1874519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06039" y="1371600"/>
            <a:ext cx="1874519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Dua Jalur Analisis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7" y="1810512"/>
            <a:ext cx="1655063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Jalur A (Banjir Pluvial): </a:t>
            </a:r>
            <a:r>
              <a:rPr sz="919">
                <a:solidFill>
                  <a:srgbClr val="334155"/>
                </a:solidFill>
              </a:rPr>
              <a:t>Hujan lokal intensitas tinggi (&gt;70 mm) memicu genangan drainase kota tanpa kenaikan muka air sungai.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Jalur B (Banjir Fluvial): </a:t>
            </a:r>
            <a:r>
              <a:rPr sz="919">
                <a:solidFill>
                  <a:srgbClr val="334155"/>
                </a:solidFill>
              </a:rPr>
              <a:t>Hujan lebat di hulu DAS Ciliwung mengalir ke hilir dengan lead time 9–12 jam (Katulampa → Manggarai).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Penentuan Mekanisme Dominan: </a:t>
            </a:r>
            <a:r>
              <a:rPr sz="919">
                <a:solidFill>
                  <a:srgbClr val="334155"/>
                </a:solidFill>
              </a:rPr>
              <a:t>Sistem memilah penyebab banjir per tapak proyek secara objektif.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38" y="1371600"/>
            <a:ext cx="1874519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38" y="1371600"/>
            <a:ext cx="1874519" cy="38404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Compound Decomposition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6" y="1810512"/>
            <a:ext cx="1655063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Dekomposisi 3 Pilar Risiko: </a:t>
            </a:r>
            <a:r>
              <a:rPr sz="919">
                <a:solidFill>
                  <a:srgbClr val="334155"/>
                </a:solidFill>
              </a:rPr>
              <a:t>Fluvial / Luapan Sungai (40%), Pluvial / Hujan Kawasan (35%), dan Coastal / Pasang Laut Rob (25%).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Kredit Proteksi Infrastruktur: </a:t>
            </a:r>
            <a:r>
              <a:rPr sz="919">
                <a:solidFill>
                  <a:srgbClr val="334155"/>
                </a:solidFill>
              </a:rPr>
              <a:t>Pengurangan risiko hingga 15 poin jika terlindungi rumah pompa aktif, situ/waduk, atau pintu air gravitasi.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Faktor Kerentanan Sektoral: </a:t>
            </a:r>
            <a:r>
              <a:rPr sz="919">
                <a:solidFill>
                  <a:srgbClr val="334155"/>
                </a:solidFill>
              </a:rPr>
              <a:t>Bobot kerentanan aset: RS (1.2), Utilitas (1.15), Komersial (1.0).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37" y="1371600"/>
            <a:ext cx="1874519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0837" y="1371600"/>
            <a:ext cx="1874519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Valuasi Finansial &amp; Aksi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5" y="1810512"/>
            <a:ext cx="1655063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CAPEX at Risk (%): </a:t>
            </a:r>
            <a:r>
              <a:rPr sz="919">
                <a:solidFill>
                  <a:srgbClr val="334155"/>
                </a:solidFill>
              </a:rPr>
              <a:t>Estimasi persentase nilai modal fisik aset yang berisiko mengalami kerusakan langsung.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Business Interruption: </a:t>
            </a:r>
            <a:r>
              <a:rPr sz="919">
                <a:solidFill>
                  <a:srgbClr val="334155"/>
                </a:solidFill>
              </a:rPr>
              <a:t>Estimasi hari operasional lumpuh (downtime days) saat akses terputus.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Diskon Transit &amp; TOD: </a:t>
            </a:r>
            <a:r>
              <a:rPr sz="919">
                <a:solidFill>
                  <a:srgbClr val="334155"/>
                </a:solidFill>
              </a:rPr>
              <a:t>Reduksi downtime operasional 10%–35% jika dekat stasiun MRT/LRT layang bebas banjir.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Underwriting Parametrik: </a:t>
            </a:r>
            <a:r>
              <a:rPr sz="919">
                <a:solidFill>
                  <a:srgbClr val="334155"/>
                </a:solidFill>
              </a:rPr>
              <a:t>Penentuan pemicu indeks untuk perlindungan likuiditas darurat.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GovTechAthon 2026 Concept Note  |  FloodSense Investment Resilience — JIC DPMPTSP DKI Jakarta  |  Slide 5 dari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</a:defRPr>
            </a:pPr>
            <a:r>
              <a:t>2. INOVASI PRODUK DIGITAL (OPTIONAL) — BAGIAN 3 DARI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Fitur Utama &amp; Tampilan Antarmuka: Interaktif, Transparan, &amp; Bankable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Eksplorasi Fitur Unggulan: GIS Spasial Interaktif, Evaluasi Titik Bebas, Konektivitas Transit, &amp; Lembar Uji Tuntas Cetak A4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886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88620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A. Peta Spasial GIS &amp; Evaluasi Titik Bebas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36667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Layer Spasial Komprehensif: </a:t>
            </a:r>
            <a:r>
              <a:rPr sz="919">
                <a:solidFill>
                  <a:srgbClr val="334155"/>
                </a:solidFill>
              </a:rPr>
              <a:t>Visualisasi interaktif sungai orde 1-3, 81 TMA, 116 pos hujan Thiessen, 222 pompa, 17 pintu air, dan 685 aset.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Arbitrary Investor Pin Drop: </a:t>
            </a:r>
            <a:r>
              <a:rPr sz="919">
                <a:solidFill>
                  <a:srgbClr val="334155"/>
                </a:solidFill>
              </a:rPr>
              <a:t>Calon investor dapat mengklik sembarang titik koordinat di peta Jakarta untuk langsung mengkalkulasi skor risiko banjir dan infrastruktur pelindung.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371600"/>
            <a:ext cx="3886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1371600"/>
            <a:ext cx="388620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B. Konektivitas Transit TOD (Grade-Separated Rail)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8" y="1810512"/>
            <a:ext cx="36667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Imunitas Rel Layang Bebas Banjir: </a:t>
            </a:r>
            <a:r>
              <a:rPr sz="919">
                <a:solidFill>
                  <a:srgbClr val="334155"/>
                </a:solidFill>
              </a:rPr>
              <a:t>Akses stasiun MRT/LRT elevated &amp; subway menjamin mobilitas pekerja saat jalan raya arteri lumpuh tergenang air.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Reduksi Downtime 10%–35%: </a:t>
            </a:r>
            <a:r>
              <a:rPr sz="919">
                <a:solidFill>
                  <a:srgbClr val="334155"/>
                </a:solidFill>
              </a:rPr>
              <a:t>Mendiskon hari gangguan usaha dan memastikan kepatuhan terhadap Taksonomi Hijau Indonesia (OJK TKBI / POJK 51/2017).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3886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3886200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C. Simulator Mitigasi Rekayasa Sipil Interaktif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56432"/>
            <a:ext cx="36667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Uji Skenario Mandiri Investor: </a:t>
            </a:r>
            <a:r>
              <a:rPr sz="919">
                <a:solidFill>
                  <a:srgbClr val="334155"/>
                </a:solidFill>
              </a:rPr>
              <a:t>Simulasi peninggian lantai (+1.2m), automatic flood barrier ramp basement, kolam retensi mandiri, dan relokasi genset ke rooftop.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Penurunan Skor Seketika: </a:t>
            </a:r>
            <a:r>
              <a:rPr sz="919">
                <a:solidFill>
                  <a:srgbClr val="334155"/>
                </a:solidFill>
              </a:rPr>
              <a:t>Skor risiko langsung berkurang secara transparan di layar, membuktikan tapak proyek dapat dibuat 100% aman dan bankable.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017520"/>
            <a:ext cx="3886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60" y="3017520"/>
            <a:ext cx="388620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D. Lembar Uji Tuntas Resmi (Cetak A4 Executive Brief)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456432"/>
            <a:ext cx="36667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Laporan Resmi Siap Cetak (A4 PDF): </a:t>
            </a:r>
            <a:r>
              <a:rPr sz="919">
                <a:solidFill>
                  <a:srgbClr val="334155"/>
                </a:solidFill>
              </a:rPr>
              <a:t>Dokumen resmi standar DPMPTSP / JIC lengkap dengan stempel digital, matriks risiko baseline vs mitigasi, dan indikasi asuransi.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Alat Pengambilan Keputusan: </a:t>
            </a:r>
            <a:r>
              <a:rPr sz="919">
                <a:solidFill>
                  <a:srgbClr val="334155"/>
                </a:solidFill>
              </a:rPr>
              <a:t>Siap dibawa langsung ke hadapan dewan direksi, komite investasi perbankan, dan auditor tanpa perlu interpretasi rumit.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GovTechAthon 2026 Concept Note  |  FloodSense Investment Resilience — JIC DPMPTSP DKI Jakarta  |  Slide 6 dari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</a:defRPr>
            </a:pPr>
            <a:r>
              <a:t>2. INOVASI PRODUK DIGITAL (OPTIONAL) — BAGIAN 4 DARI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Kesiapan Transfer Risiko: Fondasi Data Asuransi Banjir Parametrik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Inovasi Perlindungan Finansial Cepat: Mengatasi Kelemahan Asuransi Konvensional Melalui Data Oracle Terverifikasi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1460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Konvensional vs Parametrik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Kelemahan Asuransi Konvensional: </a:t>
            </a:r>
            <a:r>
              <a:rPr sz="919">
                <a:solidFill>
                  <a:srgbClr val="334155"/>
                </a:solidFill>
              </a:rPr>
              <a:t>Klaim ganti rugi fisik memerlukan survei kerusakan lapangan oleh loss adjuster, audit dokumen rumit, dan pencairan memakan waktu 3–6 bulan.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Keunggulan Asuransi Parametrik: </a:t>
            </a:r>
            <a:r>
              <a:rPr sz="919">
                <a:solidFill>
                  <a:srgbClr val="334155"/>
                </a:solidFill>
              </a:rPr>
              <a:t>Ganti rugi likuiditas darurat dicairkan otomatis dalam 3–5 hari kerja tanpa survei fisik lapangan begitu pemicu objektif terlampaui.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Penyelamat Arus Kas Cepat: </a:t>
            </a:r>
            <a:r>
              <a:rPr sz="919">
                <a:solidFill>
                  <a:srgbClr val="334155"/>
                </a:solidFill>
              </a:rPr>
              <a:t>Dana langsung masuk ke rekening escrow operasional untuk perbaikan mesin, logistik darurat, dan pembayaran gaji pekerja.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Sesuai Standar Global: </a:t>
            </a:r>
            <a:r>
              <a:rPr sz="919">
                <a:solidFill>
                  <a:srgbClr val="334155"/>
                </a:solidFill>
              </a:rPr>
              <a:t>Mengadopsi kerangka asuransi bencana berbasis indeks Bank Dunia dan PNAS (2026).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371600"/>
            <a:ext cx="25146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Eliminasi Basis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Apa itu Basis Risk?: </a:t>
            </a:r>
            <a:r>
              <a:rPr sz="919">
                <a:solidFill>
                  <a:srgbClr val="334155"/>
                </a:solidFill>
              </a:rPr>
              <a:t>Risiko terjadinya ketidaksesuaian: air menggenangi aset tetapi stasiun pengukur tidak mencatat kenaikan, atau sebaliknya.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Temuan Ilmiah Cobian et al. (2022): </a:t>
            </a:r>
            <a:r>
              <a:rPr sz="919">
                <a:solidFill>
                  <a:srgbClr val="334155"/>
                </a:solidFill>
              </a:rPr>
              <a:t>Studi ANU membuktikan bahwa minat masyarakat &amp; pelaku usaha di Jakarta terhadap asuransi indeks sangat dipengaruhi oleh jarak ke stasiun acuan.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Solusi Kerapatan Sensor FloodSense: </a:t>
            </a:r>
            <a:r>
              <a:rPr sz="919">
                <a:solidFill>
                  <a:srgbClr val="334155"/>
                </a:solidFill>
              </a:rPr>
              <a:t>Dengan mengintegrasikan 81 pos TMA dan 116 pos curah hujan, jarak aset ke stasiun acuan ditekan seminimal mungkin (&lt;3–5 km).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Pemicu Objektif Terkalibrasi: </a:t>
            </a:r>
            <a:r>
              <a:rPr sz="919">
                <a:solidFill>
                  <a:srgbClr val="334155"/>
                </a:solidFill>
              </a:rPr>
              <a:t>Trigger TMA Siaga 2 selama ≥2 jam atau akumulasi hujan harian Thiessen &gt;100 mm terbukti mencerminkan kejadian banjir riil.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9904" y="1371600"/>
            <a:ext cx="251460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Peran Kelembagaan FloodSense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Bukan Penerbit Polis: </a:t>
            </a:r>
            <a:r>
              <a:rPr sz="919">
                <a:solidFill>
                  <a:srgbClr val="334155"/>
                </a:solidFill>
              </a:rPr>
              <a:t>FloodSense tidak bertindak sebagai perusahaan asuransi dan tidak menerbitkan polis asuransi komersial sendiri.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Sebagai Data &amp; Verification Oracle: </a:t>
            </a:r>
            <a:r>
              <a:rPr sz="919">
                <a:solidFill>
                  <a:srgbClr val="334155"/>
                </a:solidFill>
              </a:rPr>
              <a:t>Menyediakan infrastruktur data netral, transparan, dan tidak dapat dimanipulasi untuk memvalidasi apakah trigger telah terlampaui.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Audit-Ready Event Records: </a:t>
            </a:r>
            <a:r>
              <a:rPr sz="919">
                <a:solidFill>
                  <a:srgbClr val="334155"/>
                </a:solidFill>
              </a:rPr>
              <a:t>Menyimpan rekaman waktu kejadian (timestamp), durasi siaga, kurva kenaikan air, dan data provenance yang sah secara hukum.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Mendukung Green Finance OJK: </a:t>
            </a:r>
            <a:r>
              <a:rPr sz="919">
                <a:solidFill>
                  <a:srgbClr val="334155"/>
                </a:solidFill>
              </a:rPr>
              <a:t>Mempermudah perbankan menyalurkan Sustainability-Linked Loans dengan jaminan mitigasi iklim terverifikasi.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GovTechAthon 2026 Concept Note  |  FloodSense Investment Resilience — JIC DPMPTSP DKI Jakarta  |  Slide 7 dari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</a:defRPr>
            </a:pPr>
            <a:r>
              <a:t>3. RESULT PREDICTION (OPTIONAL) — BAGIAN 1 DARI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Prediksi Dampak Nyata: Peningkatan Layanan Publik &amp; Efisiensi Proses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Menjawab Prediksi Hasil: Manfaat bagi Masyarakat, Pemerintah Daerah, Peningkatan Kualitas Layanan, dan Efisiensi Kerja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1460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Manfaat bagi Masyarakat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Pencegahan PHK Massal: </a:t>
            </a:r>
            <a:r>
              <a:rPr sz="919">
                <a:solidFill>
                  <a:srgbClr val="334155"/>
                </a:solidFill>
              </a:rPr>
              <a:t>Menjaga kelangsungan operasional industri, perkantoran, dan pusat niaga sehingga mencegah pemutusan hubungan kerja akibat bencana banjir.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Perlindungan Fasilitas Publik Vital: </a:t>
            </a:r>
            <a:r>
              <a:rPr sz="919">
                <a:solidFill>
                  <a:srgbClr val="334155"/>
                </a:solidFill>
              </a:rPr>
              <a:t>Melindungi keberlanjutan fungsi 204 Rumah Sakit dan 185 Institusi Pendidikan di Jakarta dari kelumpuhan akses medis dan belajar.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Keselamatan Mobilitas Warga: </a:t>
            </a:r>
            <a:r>
              <a:rPr sz="919">
                <a:solidFill>
                  <a:srgbClr val="334155"/>
                </a:solidFill>
              </a:rPr>
              <a:t>Memandu rute evakuasi aman melalui koridor stasiun transit rel layang yang terbebas dari hambatan genangan jalan raya.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Stabilitas Ekonomi Perkotaan: </a:t>
            </a:r>
            <a:r>
              <a:rPr sz="919">
                <a:solidFill>
                  <a:srgbClr val="334155"/>
                </a:solidFill>
              </a:rPr>
              <a:t>Mempertahankan rantai pasok logistik kebutuhan pokok dan aktivitas niaga pasar tradisional maupun modern.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371600"/>
            <a:ext cx="25146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Manfaat bagi Pemerintah Daerah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Meningkatkan Realisasi Investasi: </a:t>
            </a:r>
            <a:r>
              <a:rPr sz="919">
                <a:solidFill>
                  <a:srgbClr val="334155"/>
                </a:solidFill>
              </a:rPr>
              <a:t>Memperkuat daya saing Jakarta menarik modal global (target realisasi investasi DKI Jakarta Rp 160+ Triliun per tahun).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Bahan Promosi Investasi Berkelas: </a:t>
            </a:r>
            <a:r>
              <a:rPr sz="919">
                <a:solidFill>
                  <a:srgbClr val="334155"/>
                </a:solidFill>
              </a:rPr>
              <a:t>Memberikan materi advokasi ilmiah bagi JIC / DPMPTSP untuk meyakinkan investor global saat forum bisnis internasional.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Alokasi Anggaran Tepat Sasaran: </a:t>
            </a:r>
            <a:r>
              <a:rPr sz="919">
                <a:solidFill>
                  <a:srgbClr val="334155"/>
                </a:solidFill>
              </a:rPr>
              <a:t>Membantu Bappeda &amp; Dinas SDA memprioritaskan pembangunan tanggul, polder, dan pompa pada zona bernilai ekonomi tertinggi.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Kolaborasi Lintas OPD Terpadu: </a:t>
            </a:r>
            <a:r>
              <a:rPr sz="919">
                <a:solidFill>
                  <a:srgbClr val="334155"/>
                </a:solidFill>
              </a:rPr>
              <a:t>Menghapus sekat birokrasi antara dinas teknis (SDA/BPBD) dengan dinas ekonomi dan pelayanan penanaman modal (DPMPTSP).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37160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9904" y="1371600"/>
            <a:ext cx="251460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Efisiensi Waktu &amp; Biaya Kerja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810512"/>
            <a:ext cx="229514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Waktu Uji Tuntas (Due Diligence): </a:t>
            </a:r>
            <a:r>
              <a:rPr sz="919">
                <a:solidFill>
                  <a:srgbClr val="334155"/>
                </a:solidFill>
              </a:rPr>
              <a:t>Dipangkas dari 2–4 minggu survei konsultan manual menjadi di bawah 5 detik secara instan melalui sistem otomatis.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Penghematan Biaya Konsultan: </a:t>
            </a:r>
            <a:r>
              <a:rPr sz="919">
                <a:solidFill>
                  <a:srgbClr val="334155"/>
                </a:solidFill>
              </a:rPr>
              <a:t>Menghemat miliaran rupiah biaya studi kelayakan hidrologi awal bagi calon investor dan BUMD penyelenggara proyek.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Mencegah Over/Under-Engineering: </a:t>
            </a:r>
            <a:r>
              <a:rPr sz="919">
                <a:solidFill>
                  <a:srgbClr val="334155"/>
                </a:solidFill>
              </a:rPr>
              <a:t>Investor dapat merancang spesifikasi proteksi sipil sesuai eksposur riil tapak, tanpa membuang modal berlebihan.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Pencairan Likuiditas Tercepat: </a:t>
            </a:r>
            <a:r>
              <a:rPr sz="919">
                <a:solidFill>
                  <a:srgbClr val="334155"/>
                </a:solidFill>
              </a:rPr>
              <a:t>Efisiensi pemulihan bisnis darurat dari hitungan bulan menjadi 3–5 hari kerja berkat skema asuransi parametrik.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GovTechAthon 2026 Concept Note  |  FloodSense Investment Resilience — JIC DPMPTSP DKI Jakarta  |  Slide 8 dari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</a:defRPr>
            </a:pPr>
            <a:r>
              <a:t>3. RESULT PREDICTION (OPTIONAL) — BAGIAN 2 DARI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Indikator Keberhasilan Terukur (KPI) &amp; Rencana Replikasi Nasional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Target Kuantitatif Jangka Pendek, Menengah, Panjang, serta Potensi Pengembangan di Wilayah Aglomerasi dan Kota Lain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977639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977639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Indikator Kinerja Utama (KPI) Terukur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370331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b="1" sz="930">
                <a:solidFill>
                  <a:srgbClr val="0F172A"/>
                </a:solidFill>
              </a:defRPr>
            </a:pPr>
            <a:r>
              <a:t>■  Jangka Pendek (0–6 Bulan)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</a:defRPr>
            </a:pPr>
            <a:r>
              <a:t>   • 100% dari 37 proyek prioritas JIC 2026 (Rp 115,15 T) terpetakan profil ketahanan risiko banjir dan kelayakan investasinya.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</a:defRPr>
            </a:pPr>
            <a:r>
              <a:t>   • Minimal 100 lembar uji tuntas resmi (A4 Due Diligence Brief) diterbitkan untuk calon investor dalam forum promosi JIC.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</a:defRPr>
            </a:pPr>
            <a:r>
              <a:t>   • Waktu akses evaluasi risiko lokasi investasi tercapai &lt;5 detik per lokasi.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b="1" sz="930">
                <a:solidFill>
                  <a:srgbClr val="0F172A"/>
                </a:solidFill>
              </a:defRPr>
            </a:pPr>
            <a:r>
              <a:t>■  Jangka Menengah (6–12 Bulan)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</a:defRPr>
            </a:pPr>
            <a:r>
              <a:t>   • Integrasi penuh API telemetri dengan portal Jakarta Smart City &amp; Satu Data Jakarta.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</a:defRPr>
            </a:pPr>
            <a:r>
              <a:t>   • Penerbitan modul Sandbox Kerjasama Asuransi Parametrik bersama konsorsium industri asuransi dan OJK.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</a:defRPr>
            </a:pPr>
            <a:r>
              <a:t>   • Pelatihan teknis bagi 50 aparatur DPMPTSP dan perwakilan pengembang proyek strategis.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b="1" sz="930">
                <a:solidFill>
                  <a:srgbClr val="0F172A"/>
                </a:solidFill>
              </a:defRPr>
            </a:pPr>
            <a:r>
              <a:t>■  Jangka Panjang (1–3 Tahun)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</a:defRPr>
            </a:pPr>
            <a:r>
              <a:t>   • Penurunan rata-rata hari gangguan usaha (downtime) aset binaan JIC sebesar 20%–30% melalui panduan mitigasi sipil terarah.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</a:defRPr>
            </a:pPr>
            <a:r>
              <a:t>   • Peningkatan tingkat realisasi kesepakatan investasi (deal closure rate) JIC sebesar 15% pada kawasan berketahanan iklim.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599" y="1371600"/>
            <a:ext cx="37947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00599" y="1371600"/>
            <a:ext cx="379476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Potensi Replikasi &amp; Pengembangan Daerah 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7" y="1810512"/>
            <a:ext cx="3575304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Aglomerasi Jabodetabekpunjur: </a:t>
            </a:r>
            <a:r>
              <a:rPr sz="919">
                <a:solidFill>
                  <a:srgbClr val="334155"/>
                </a:solidFill>
              </a:rPr>
              <a:t>Kerangka pengelolaan DAS tidak mengenal batas administrasi. Solusi ini dapat langsung direplikasi ke Kab/Kota Bogor, Depok, Tangerang, dan Bekasi untuk sinkronisasi peringatan dini hulu-hilir.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Ibu Kota Nusantara (IKN): </a:t>
            </a:r>
            <a:r>
              <a:rPr sz="919">
                <a:solidFill>
                  <a:srgbClr val="334155"/>
                </a:solidFill>
              </a:rPr>
              <a:t>Dapat diadopsi sebagai modul evaluasi kelayakan risiko iklim dan hidrometeorologi untuk menarik investor pelopor di Kawasan Inti Pusat Pemerintahan (KIPP).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Kota Semarang &amp; Pantura: </a:t>
            </a:r>
            <a:r>
              <a:rPr sz="919">
                <a:solidFill>
                  <a:srgbClr val="334155"/>
                </a:solidFill>
              </a:rPr>
              <a:t>Sangat relevan direplikasi pada kawasan industri terpadu Kendal, Batang, dan pesisir Semarang yang menghadapi kombinasi banjir rob pasang air laut dan subsidensi tanah serupa.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Kota Surabaya &amp; Gerbangkertosusila: </a:t>
            </a:r>
            <a:r>
              <a:rPr sz="919">
                <a:solidFill>
                  <a:srgbClr val="334155"/>
                </a:solidFill>
              </a:rPr>
              <a:t>Dapat diintegrasikan pada sistem drainase polder dan kawasan pelabuhan logistik Tanjung Perak.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Skalabilitas Berbasis Cloud &amp; Microservices: </a:t>
            </a:r>
            <a:r>
              <a:rPr sz="919">
                <a:solidFill>
                  <a:srgbClr val="334155"/>
                </a:solidFill>
              </a:rPr>
              <a:t>Dibangun dengan arsitektur modular (Node.js/Express, TypeScript, MySQL/PostGIS, dan Leaflet) yang mudah diadaptasi tanpa ketergantungan lisensi komersial tertutup.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GovTechAthon 2026 Concept Note  |  FloodSense Investment Resilience — JIC DPMPTSP DKI Jakarta  |  Slide 9 dari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</a:defRPr>
            </a:pPr>
            <a:r>
              <a:t>4. REFERENCES (MANDATORY)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Landasan Kebijakan, Dokumen Perencanaan, Data Sektoral, &amp; Kajian Ilmiah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Sumber Regulasi Resmi Pemerintah, Dokumen Perencanaan Pembangunan Daerah, Data Statistik, dan Literatur Akademik Internasional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886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88620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Peraturan Perundang-undangan &amp; Kebijakan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36667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UU No. 24 Tahun 2007: </a:t>
            </a:r>
            <a:r>
              <a:rPr sz="919">
                <a:solidFill>
                  <a:srgbClr val="334155"/>
                </a:solidFill>
              </a:rPr>
              <a:t>Tentang Penanggulangan Bencana (Pasal 35: Kesiapsiagaan &amp; Mitigasi Risiko Investasi).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UU No. 6 Tahun 2023 (Cipta Kerja): </a:t>
            </a:r>
            <a:r>
              <a:rPr sz="919">
                <a:solidFill>
                  <a:srgbClr val="334155"/>
                </a:solidFill>
              </a:rPr>
              <a:t>Penguatan kepastian hukum berusaha, transparansi tata ruang, dan percepatan perizinan penanaman modal.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Perda DKI No. 1 Tahun 2024 &amp; Pergub 16/2020: </a:t>
            </a:r>
            <a:r>
              <a:rPr sz="919">
                <a:solidFill>
                  <a:srgbClr val="334155"/>
                </a:solidFill>
              </a:rPr>
              <a:t>Rencana Tata Ruang Wilayah dan Penanggulangan Banjir Terpadu Terintegrasi.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POJK No. 51/POJK.03/2017 &amp; TKBI OJK: </a:t>
            </a:r>
            <a:r>
              <a:rPr sz="919">
                <a:solidFill>
                  <a:srgbClr val="334155"/>
                </a:solidFill>
              </a:rPr>
              <a:t>Penerapan Keuangan Berkelanjutan dan Taksonomi Keuangan Berkelanjutan Indonesia (Kategori 1 Ketahanan Iklim &amp; TOD).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371600"/>
            <a:ext cx="3886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1371600"/>
            <a:ext cx="38862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Dokumen Perencanaan Pembangunan Daerah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8" y="1810512"/>
            <a:ext cx="36667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RPD DKI Jakarta 2023–2026: </a:t>
            </a:r>
            <a:r>
              <a:rPr sz="919">
                <a:solidFill>
                  <a:srgbClr val="334155"/>
                </a:solidFill>
              </a:rPr>
              <a:t>Arah kebijakan penguatan ketahanan kota menghadapi perubahan iklim global dan transformasi Jakarta sebagai Kota Global.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Renstra DPMPTSP DKI Jakarta 2023–2026: </a:t>
            </a:r>
            <a:r>
              <a:rPr sz="919">
                <a:solidFill>
                  <a:srgbClr val="334155"/>
                </a:solidFill>
              </a:rPr>
              <a:t>Target peningkatan realisasi investasi berkualitas, iklim usaha kondusif, dan fasilitasi promosi proyek strategis.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Renstra Dinas Sumber Daya Air DKI Jakarta: </a:t>
            </a:r>
            <a:r>
              <a:rPr sz="919">
                <a:solidFill>
                  <a:srgbClr val="334155"/>
                </a:solidFill>
              </a:rPr>
              <a:t>Peningkatan kapasitas polder, optimalisasi 222 rumah pompa, dan revitalisasi waduk/situ retensi.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Petunjuk Teknis GovTechAthon 2026: </a:t>
            </a:r>
            <a:r>
              <a:rPr sz="919">
                <a:solidFill>
                  <a:srgbClr val="334155"/>
                </a:solidFill>
              </a:rPr>
              <a:t>Jakarta Smart City &amp; Diskominfotik Provinsi DKI Jakarta.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3886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3886200" cy="38404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Data Statistik &amp; Informasi Sektoral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56432"/>
            <a:ext cx="36667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Jakarta Investment Centre (JIC): </a:t>
            </a:r>
            <a:r>
              <a:rPr sz="919">
                <a:solidFill>
                  <a:srgbClr val="334155"/>
                </a:solidFill>
              </a:rPr>
              <a:t>Katalog 37 Proyek Peluang Investasi Jakarta 2026 senilai Rp 115,15 Triliun (Ready to Offer &amp; Market Sounding).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Badan Pusat Statistik (BPS) DKI Jakarta: </a:t>
            </a:r>
            <a:r>
              <a:rPr sz="919">
                <a:solidFill>
                  <a:srgbClr val="334155"/>
                </a:solidFill>
              </a:rPr>
              <a:t>Statistik Investasi Penanaman Modal Dalam Negeri (PMDN) &amp; Asing (PMA) dan Produk Domestik Regional Bruto (PDRB).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BNPB DIBI &amp; BMKG: </a:t>
            </a:r>
            <a:r>
              <a:rPr sz="919">
                <a:solidFill>
                  <a:srgbClr val="334155"/>
                </a:solidFill>
              </a:rPr>
              <a:t>Data Informasi Bencana Indonesia (DIBI) dan Telemetri Curah Hujan Radar GSMaP/Himawari-9.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Kementerian PUPR &amp; BBWS Ciliwung Cisadane: </a:t>
            </a:r>
            <a:r>
              <a:rPr sz="919">
                <a:solidFill>
                  <a:srgbClr val="334155"/>
                </a:solidFill>
              </a:rPr>
              <a:t>Data spasial jaringan sungai, sensor TMA, dan sistem pelaporan bencana banjir PU Sitaba.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017520"/>
            <a:ext cx="3886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60" y="3017520"/>
            <a:ext cx="388620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Kajian Ilmiah &amp; Praktik Terbaik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456432"/>
            <a:ext cx="36667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PNAS (2025/2026): </a:t>
            </a:r>
            <a:r>
              <a:rPr sz="919">
                <a:solidFill>
                  <a:srgbClr val="334155"/>
                </a:solidFill>
              </a:rPr>
              <a:t>Integrating vulnerability, exposure, and critical infrastructure to assess pluvial flood risks in New York City (doi:10.1073/pnas.2520315122).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Cobian, Resosudarmo, Halimatussadiah, &amp; Olivia (2022): </a:t>
            </a:r>
            <a:r>
              <a:rPr sz="919">
                <a:solidFill>
                  <a:srgbClr val="334155"/>
                </a:solidFill>
              </a:rPr>
              <a:t>Demand for index-based flood insurance in Jakarta, Indonesia. Arndt-Corden Department of Economics, Australian National University (ANU WP 2022/12).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UNDRR Sendai Framework 2015–2030: </a:t>
            </a:r>
            <a:r>
              <a:rPr sz="919">
                <a:solidFill>
                  <a:srgbClr val="334155"/>
                </a:solidFill>
              </a:rPr>
              <a:t>Prioritas 3: Investing in Disaster Risk Reduction for Resilience (Kemitraan Publik-Swasta).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rPr b="1" sz="919">
                <a:solidFill>
                  <a:srgbClr val="0F172A"/>
                </a:solidFill>
              </a:rPr>
              <a:t>•  ITDP Transit-Oriented Development Standard: </a:t>
            </a:r>
            <a:r>
              <a:rPr sz="919">
                <a:solidFill>
                  <a:srgbClr val="334155"/>
                </a:solidFill>
              </a:rPr>
              <a:t>Kriteria aksesibilitas pejalan kaki, konektivitas rel layang grade-separated, dan ketahanan mobilitas urban.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GovTechAthon 2026 Concept Note  |  FloodSense Investment Resilience — JIC DPMPTSP DKI Jakarta  |  Slide 10 dari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