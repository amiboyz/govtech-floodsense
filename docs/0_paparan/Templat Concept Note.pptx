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11" roundtripDataSignature="AMtx7mhYJgj2FVTro7V6JjWNC19Y26lEI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customschemas.google.com/relationships/presentationmetadata" Target="metadata"/><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 name="Google Shape;5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 name="Google Shape;7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 name="Shape 9"/>
        <p:cNvGrpSpPr/>
        <p:nvPr/>
      </p:nvGrpSpPr>
      <p:grpSpPr>
        <a:xfrm>
          <a:off x="0" y="0"/>
          <a:ext cx="0" cy="0"/>
          <a:chOff x="0" y="0"/>
          <a:chExt cx="0" cy="0"/>
        </a:xfrm>
      </p:grpSpPr>
      <p:sp>
        <p:nvSpPr>
          <p:cNvPr id="10" name="Google Shape;10;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 name="Google Shape;11;p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 name="Google Shape;12;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p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1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1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title"/>
          </p:nvPr>
        </p:nvSpPr>
        <p:spPr>
          <a:xfrm>
            <a:off x="311688" y="445025"/>
            <a:ext cx="8520600" cy="1059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lang="en-ID"/>
              <a:t>GovTechAthon 2026</a:t>
            </a:r>
            <a:endParaRPr/>
          </a:p>
          <a:p>
            <a:pPr indent="0" lvl="0" marL="0" rtl="0" algn="ctr">
              <a:lnSpc>
                <a:spcPct val="100000"/>
              </a:lnSpc>
              <a:spcBef>
                <a:spcPts val="0"/>
              </a:spcBef>
              <a:spcAft>
                <a:spcPts val="0"/>
              </a:spcAft>
              <a:buSzPts val="2800"/>
              <a:buNone/>
            </a:pPr>
            <a:r>
              <a:rPr b="1" lang="en-ID"/>
              <a:t>CONCEPT NOTE      </a:t>
            </a:r>
            <a:endParaRPr b="1"/>
          </a:p>
        </p:txBody>
      </p:sp>
      <p:sp>
        <p:nvSpPr>
          <p:cNvPr id="55" name="Google Shape;55;p1"/>
          <p:cNvSpPr txBox="1"/>
          <p:nvPr>
            <p:ph idx="1" type="body"/>
          </p:nvPr>
        </p:nvSpPr>
        <p:spPr>
          <a:xfrm>
            <a:off x="311700" y="1627875"/>
            <a:ext cx="8520600" cy="2941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800"/>
              <a:buNone/>
            </a:pPr>
            <a:r>
              <a:rPr lang="en-ID"/>
              <a:t>Tanggal dan Lokasi	: xx-xx-2026, [kota Anda]</a:t>
            </a:r>
            <a:endParaRPr/>
          </a:p>
          <a:p>
            <a:pPr indent="0" lvl="0" marL="0" rtl="0" algn="l">
              <a:lnSpc>
                <a:spcPct val="100000"/>
              </a:lnSpc>
              <a:spcBef>
                <a:spcPts val="0"/>
              </a:spcBef>
              <a:spcAft>
                <a:spcPts val="0"/>
              </a:spcAft>
              <a:buSzPts val="1800"/>
              <a:buNone/>
            </a:pPr>
            <a:r>
              <a:rPr lang="en-ID"/>
              <a:t>Anggota				: </a:t>
            </a:r>
            <a:endParaRPr/>
          </a:p>
          <a:p>
            <a:pPr indent="0" lvl="0" marL="0" rtl="0" algn="l">
              <a:lnSpc>
                <a:spcPct val="100000"/>
              </a:lnSpc>
              <a:spcBef>
                <a:spcPts val="0"/>
              </a:spcBef>
              <a:spcAft>
                <a:spcPts val="0"/>
              </a:spcAft>
              <a:buSzPts val="1800"/>
              <a:buNone/>
            </a:pPr>
            <a:r>
              <a:rPr lang="en-ID"/>
              <a:t>Kontak				:</a:t>
            </a:r>
            <a:endParaRPr/>
          </a:p>
          <a:p>
            <a:pPr indent="0" lvl="0" marL="0" rtl="0" algn="l">
              <a:lnSpc>
                <a:spcPct val="100000"/>
              </a:lnSpc>
              <a:spcBef>
                <a:spcPts val="0"/>
              </a:spcBef>
              <a:spcAft>
                <a:spcPts val="0"/>
              </a:spcAft>
              <a:buSzPts val="1800"/>
              <a:buNone/>
            </a:pPr>
            <a:r>
              <a:rPr lang="en-ID"/>
              <a:t>Tema				:</a:t>
            </a:r>
            <a:endParaRPr/>
          </a:p>
          <a:p>
            <a:pPr indent="0" lvl="0" marL="0" rtl="0" algn="l">
              <a:lnSpc>
                <a:spcPct val="100000"/>
              </a:lnSpc>
              <a:spcBef>
                <a:spcPts val="0"/>
              </a:spcBef>
              <a:spcAft>
                <a:spcPts val="0"/>
              </a:spcAft>
              <a:buSzPts val="1800"/>
              <a:buNone/>
            </a:pPr>
            <a:r>
              <a:rPr lang="en-ID"/>
              <a:t>Judul Project			:</a:t>
            </a:r>
            <a:endParaRPr/>
          </a:p>
        </p:txBody>
      </p:sp>
      <p:sp>
        <p:nvSpPr>
          <p:cNvPr id="56" name="Google Shape;56;p1"/>
          <p:cNvSpPr txBox="1"/>
          <p:nvPr>
            <p:ph type="title"/>
          </p:nvPr>
        </p:nvSpPr>
        <p:spPr>
          <a:xfrm>
            <a:off x="311688" y="4375175"/>
            <a:ext cx="8520600" cy="572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ID" sz="1189"/>
              <a:t>Maksimal 10 slide dengan detail sesuai pedoman ini </a:t>
            </a:r>
            <a:endParaRPr sz="1189"/>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2"/>
          <p:cNvSpPr txBox="1"/>
          <p:nvPr>
            <p:ph type="title"/>
          </p:nvPr>
        </p:nvSpPr>
        <p:spPr>
          <a:xfrm>
            <a:off x="311700" y="445025"/>
            <a:ext cx="8520600" cy="572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rmAutofit fontScale="90000"/>
          </a:bodyPr>
          <a:lstStyle/>
          <a:p>
            <a:pPr indent="-388620" lvl="0" marL="457200" rtl="0" algn="l">
              <a:lnSpc>
                <a:spcPct val="100000"/>
              </a:lnSpc>
              <a:spcBef>
                <a:spcPts val="0"/>
              </a:spcBef>
              <a:spcAft>
                <a:spcPts val="0"/>
              </a:spcAft>
              <a:buSzPct val="100000"/>
              <a:buAutoNum type="arabicPeriod"/>
            </a:pPr>
            <a:r>
              <a:rPr b="1" lang="en-ID"/>
              <a:t>Urban Issue (Mandatory)</a:t>
            </a:r>
            <a:endParaRPr b="1"/>
          </a:p>
        </p:txBody>
      </p:sp>
      <p:sp>
        <p:nvSpPr>
          <p:cNvPr id="62" name="Google Shape;62;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800"/>
              <a:buNone/>
            </a:pPr>
            <a:r>
              <a:rPr lang="en-ID" sz="1350"/>
              <a:t>Jelaskan masalah yang sedang berlangsung di kota yang Anda wakili. </a:t>
            </a:r>
            <a:endParaRPr sz="1350"/>
          </a:p>
          <a:p>
            <a:pPr indent="0" lvl="0" marL="0" rtl="0" algn="l">
              <a:lnSpc>
                <a:spcPct val="100000"/>
              </a:lnSpc>
              <a:spcBef>
                <a:spcPts val="0"/>
              </a:spcBef>
              <a:spcAft>
                <a:spcPts val="0"/>
              </a:spcAft>
              <a:buSzPts val="1800"/>
              <a:buNone/>
            </a:pPr>
            <a:r>
              <a:t/>
            </a:r>
            <a:endParaRPr sz="1350"/>
          </a:p>
          <a:p>
            <a:pPr indent="0" lvl="0" marL="0" rtl="0" algn="l">
              <a:lnSpc>
                <a:spcPct val="100000"/>
              </a:lnSpc>
              <a:spcBef>
                <a:spcPts val="0"/>
              </a:spcBef>
              <a:spcAft>
                <a:spcPts val="0"/>
              </a:spcAft>
              <a:buSzPts val="1800"/>
              <a:buNone/>
            </a:pPr>
            <a:r>
              <a:rPr b="1" lang="en-ID" sz="1350"/>
              <a:t>Bagian laporan ini harus menjawab pertanyaan-pertanyaan berikut: </a:t>
            </a:r>
            <a:endParaRPr b="1" sz="1350"/>
          </a:p>
          <a:p>
            <a:pPr indent="-248625" lvl="0" marL="342900" rtl="0" algn="l">
              <a:lnSpc>
                <a:spcPct val="100000"/>
              </a:lnSpc>
              <a:spcBef>
                <a:spcPts val="0"/>
              </a:spcBef>
              <a:spcAft>
                <a:spcPts val="0"/>
              </a:spcAft>
              <a:buSzPts val="1350"/>
              <a:buFont typeface="Arial"/>
              <a:buAutoNum type="arabicPeriod"/>
            </a:pPr>
            <a:r>
              <a:rPr lang="en-ID" sz="1350"/>
              <a:t>Apa masalah yang dihadapi kota Anda?</a:t>
            </a:r>
            <a:endParaRPr sz="1350"/>
          </a:p>
          <a:p>
            <a:pPr indent="-248625" lvl="0" marL="342900" rtl="0" algn="l">
              <a:lnSpc>
                <a:spcPct val="100000"/>
              </a:lnSpc>
              <a:spcBef>
                <a:spcPts val="0"/>
              </a:spcBef>
              <a:spcAft>
                <a:spcPts val="0"/>
              </a:spcAft>
              <a:buSzPts val="1350"/>
              <a:buFont typeface="Arial"/>
              <a:buAutoNum type="arabicPeriod"/>
            </a:pPr>
            <a:r>
              <a:rPr lang="en-ID" sz="1350"/>
              <a:t>Kapan dan bagaimana masalah ini dimulai? </a:t>
            </a:r>
            <a:endParaRPr sz="1350"/>
          </a:p>
          <a:p>
            <a:pPr indent="-248625" lvl="0" marL="342900" rtl="0" algn="l">
              <a:lnSpc>
                <a:spcPct val="100000"/>
              </a:lnSpc>
              <a:spcBef>
                <a:spcPts val="0"/>
              </a:spcBef>
              <a:spcAft>
                <a:spcPts val="0"/>
              </a:spcAft>
              <a:buSzPts val="1350"/>
              <a:buFont typeface="Arial"/>
              <a:buAutoNum type="arabicPeriod"/>
            </a:pPr>
            <a:r>
              <a:rPr lang="en-ID" sz="1350"/>
              <a:t>Apa konsekuensi dari masalah ini? (Harap berikan data statistik untuk menggambarkan dampak masalah tersebut) </a:t>
            </a:r>
            <a:endParaRPr sz="1350"/>
          </a:p>
          <a:p>
            <a:pPr indent="-248625" lvl="0" marL="342900" rtl="0" algn="l">
              <a:lnSpc>
                <a:spcPct val="100000"/>
              </a:lnSpc>
              <a:spcBef>
                <a:spcPts val="0"/>
              </a:spcBef>
              <a:spcAft>
                <a:spcPts val="0"/>
              </a:spcAft>
              <a:buSzPts val="1350"/>
              <a:buFont typeface="Arial"/>
              <a:buAutoNum type="arabicPeriod"/>
            </a:pPr>
            <a:r>
              <a:rPr lang="en-ID" sz="1350"/>
              <a:t>Apa yang telah dilakukan oleh pemangku kepentingan lokal (lembaga publik dan swasta) untuk mencoba menyelesaikan masalah ini? </a:t>
            </a:r>
            <a:endParaRPr sz="1350"/>
          </a:p>
          <a:p>
            <a:pPr indent="-248625" lvl="0" marL="342900" rtl="0" algn="l">
              <a:lnSpc>
                <a:spcPct val="100000"/>
              </a:lnSpc>
              <a:spcBef>
                <a:spcPts val="0"/>
              </a:spcBef>
              <a:spcAft>
                <a:spcPts val="0"/>
              </a:spcAft>
              <a:buSzPts val="1350"/>
              <a:buFont typeface="Arial"/>
              <a:buAutoNum type="arabicPeriod"/>
            </a:pPr>
            <a:r>
              <a:rPr lang="en-ID" sz="1350"/>
              <a:t>Apakah upaya-upaya sebelumnya untuk menyelesaikan masalah ini berhasil, jika tidak, mengapa? </a:t>
            </a:r>
            <a:endParaRPr sz="1350"/>
          </a:p>
          <a:p>
            <a:pPr indent="-248625" lvl="0" marL="342900" rtl="0" algn="l">
              <a:lnSpc>
                <a:spcPct val="100000"/>
              </a:lnSpc>
              <a:spcBef>
                <a:spcPts val="0"/>
              </a:spcBef>
              <a:spcAft>
                <a:spcPts val="0"/>
              </a:spcAft>
              <a:buSzPts val="1350"/>
              <a:buFont typeface="Arial"/>
              <a:buAutoNum type="arabicPeriod"/>
            </a:pPr>
            <a:r>
              <a:rPr lang="en-ID" sz="1350"/>
              <a:t>Apa yang dibutuhkan untuk menyelesaikan masalah ini?</a:t>
            </a:r>
            <a:endParaRPr sz="135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3"/>
          <p:cNvSpPr txBox="1"/>
          <p:nvPr>
            <p:ph type="title"/>
          </p:nvPr>
        </p:nvSpPr>
        <p:spPr>
          <a:xfrm>
            <a:off x="311700" y="445025"/>
            <a:ext cx="8520600" cy="572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ID"/>
              <a:t>2. Inovasi Produk Digital (Optional)</a:t>
            </a:r>
            <a:endParaRPr b="1"/>
          </a:p>
        </p:txBody>
      </p:sp>
      <p:sp>
        <p:nvSpPr>
          <p:cNvPr id="68" name="Google Shape;68;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77500"/>
          </a:bodyPr>
          <a:lstStyle/>
          <a:p>
            <a:pPr indent="0" lvl="0" marL="0" rtl="0" algn="l">
              <a:lnSpc>
                <a:spcPct val="100000"/>
              </a:lnSpc>
              <a:spcBef>
                <a:spcPts val="0"/>
              </a:spcBef>
              <a:spcAft>
                <a:spcPts val="0"/>
              </a:spcAft>
              <a:buSzPct val="108108"/>
              <a:buNone/>
            </a:pPr>
            <a:r>
              <a:rPr lang="en-ID"/>
              <a:t>Jelaskan pendekatan yang akan digunakan dalam mengembangkan inovasi, mulai dari perancangan solusi, pengembangan fitur utama, hingga strategi implementasi dan pemanfaatannya oleh pengguna.</a:t>
            </a:r>
            <a:endParaRPr/>
          </a:p>
          <a:p>
            <a:pPr indent="0" lvl="0" marL="0" rtl="0" algn="l">
              <a:lnSpc>
                <a:spcPct val="100000"/>
              </a:lnSpc>
              <a:spcBef>
                <a:spcPts val="0"/>
              </a:spcBef>
              <a:spcAft>
                <a:spcPts val="0"/>
              </a:spcAft>
              <a:buSzPct val="108108"/>
              <a:buNone/>
            </a:pPr>
            <a:r>
              <a:t/>
            </a:r>
            <a:endParaRPr/>
          </a:p>
          <a:p>
            <a:pPr indent="0" lvl="0" marL="0" rtl="0" algn="l">
              <a:lnSpc>
                <a:spcPct val="100000"/>
              </a:lnSpc>
              <a:spcBef>
                <a:spcPts val="0"/>
              </a:spcBef>
              <a:spcAft>
                <a:spcPts val="0"/>
              </a:spcAft>
              <a:buSzPct val="108108"/>
              <a:buNone/>
            </a:pPr>
            <a:r>
              <a:rPr b="1" lang="en-ID"/>
              <a:t>Poin yang dapat dijelaskan:</a:t>
            </a:r>
            <a:endParaRPr/>
          </a:p>
          <a:p>
            <a:pPr indent="-324365" lvl="0" marL="457200" rtl="0" algn="l">
              <a:lnSpc>
                <a:spcPct val="115000"/>
              </a:lnSpc>
              <a:spcBef>
                <a:spcPts val="0"/>
              </a:spcBef>
              <a:spcAft>
                <a:spcPts val="0"/>
              </a:spcAft>
              <a:buSzPct val="108108"/>
              <a:buFont typeface="Arial"/>
              <a:buChar char="•"/>
            </a:pPr>
            <a:r>
              <a:rPr lang="en-ID"/>
              <a:t>Pendekatan yang digunakan untuk menyelesaikan masalah;</a:t>
            </a:r>
            <a:endParaRPr/>
          </a:p>
          <a:p>
            <a:pPr indent="-324365" lvl="0" marL="457200" rtl="0" algn="l">
              <a:lnSpc>
                <a:spcPct val="115000"/>
              </a:lnSpc>
              <a:spcBef>
                <a:spcPts val="0"/>
              </a:spcBef>
              <a:spcAft>
                <a:spcPts val="0"/>
              </a:spcAft>
              <a:buSzPct val="108108"/>
              <a:buFont typeface="Arial"/>
              <a:buChar char="•"/>
            </a:pPr>
            <a:r>
              <a:rPr lang="en-ID"/>
              <a:t>Sasaran pengguna (masyarakat, OPD, pelaku usaha, atau pemangku kepentingan lainnya);</a:t>
            </a:r>
            <a:endParaRPr/>
          </a:p>
          <a:p>
            <a:pPr indent="-324365" lvl="0" marL="457200" rtl="0" algn="l">
              <a:lnSpc>
                <a:spcPct val="115000"/>
              </a:lnSpc>
              <a:spcBef>
                <a:spcPts val="0"/>
              </a:spcBef>
              <a:spcAft>
                <a:spcPts val="0"/>
              </a:spcAft>
              <a:buSzPct val="108108"/>
              <a:buFont typeface="Arial"/>
              <a:buChar char="•"/>
            </a:pPr>
            <a:r>
              <a:rPr lang="en-ID"/>
              <a:t>Bentuk solusi yang diusulkan (dashboard, aplikasi, sistem informasi, atau layanan digital lainnya);</a:t>
            </a:r>
            <a:endParaRPr/>
          </a:p>
          <a:p>
            <a:pPr indent="-324365" lvl="0" marL="457200" rtl="0" algn="l">
              <a:lnSpc>
                <a:spcPct val="115000"/>
              </a:lnSpc>
              <a:spcBef>
                <a:spcPts val="0"/>
              </a:spcBef>
              <a:spcAft>
                <a:spcPts val="0"/>
              </a:spcAft>
              <a:buSzPct val="108108"/>
              <a:buFont typeface="Arial"/>
              <a:buChar char="•"/>
            </a:pPr>
            <a:r>
              <a:rPr lang="en-ID"/>
              <a:t>Alur kerja atau mekanisme solusi yang diusulkan;</a:t>
            </a:r>
            <a:endParaRPr/>
          </a:p>
          <a:p>
            <a:pPr indent="-324365" lvl="0" marL="457200" rtl="0" algn="l">
              <a:lnSpc>
                <a:spcPct val="115000"/>
              </a:lnSpc>
              <a:spcBef>
                <a:spcPts val="0"/>
              </a:spcBef>
              <a:spcAft>
                <a:spcPts val="0"/>
              </a:spcAft>
              <a:buSzPct val="108108"/>
              <a:buFont typeface="Arial"/>
              <a:buChar char="•"/>
            </a:pPr>
            <a:r>
              <a:rPr lang="en-ID"/>
              <a:t>Kebutuhan data, teknologi, dan sumber daya pendukung;</a:t>
            </a:r>
            <a:endParaRPr/>
          </a:p>
          <a:p>
            <a:pPr indent="-317183" lvl="0" marL="457200" rtl="0" algn="l">
              <a:lnSpc>
                <a:spcPct val="115000"/>
              </a:lnSpc>
              <a:spcBef>
                <a:spcPts val="0"/>
              </a:spcBef>
              <a:spcAft>
                <a:spcPts val="0"/>
              </a:spcAft>
              <a:buSzPct val="100000"/>
              <a:buChar char="•"/>
            </a:pPr>
            <a:r>
              <a:rPr lang="en-ID"/>
              <a:t>Kebutuhan integrasi, jumlah sistem yang diintegrasikan;</a:t>
            </a:r>
            <a:endParaRPr/>
          </a:p>
          <a:p>
            <a:pPr indent="-324365" lvl="0" marL="457200" rtl="0" algn="l">
              <a:lnSpc>
                <a:spcPct val="115000"/>
              </a:lnSpc>
              <a:spcBef>
                <a:spcPts val="0"/>
              </a:spcBef>
              <a:spcAft>
                <a:spcPts val="0"/>
              </a:spcAft>
              <a:buSzPct val="108108"/>
              <a:buFont typeface="Arial"/>
              <a:buChar char="•"/>
            </a:pPr>
            <a:r>
              <a:rPr lang="en-ID"/>
              <a:t>Rencana pengembangan dan implementasi solusi.</a:t>
            </a:r>
            <a:endParaRPr/>
          </a:p>
          <a:p>
            <a:pPr indent="-317183" lvl="0" marL="457200" rtl="0" algn="l">
              <a:lnSpc>
                <a:spcPct val="100000"/>
              </a:lnSpc>
              <a:spcBef>
                <a:spcPts val="0"/>
              </a:spcBef>
              <a:spcAft>
                <a:spcPts val="0"/>
              </a:spcAft>
              <a:buSzPct val="100000"/>
              <a:buChar char="•"/>
            </a:pPr>
            <a:r>
              <a:rPr lang="en-ID"/>
              <a:t>Desain tampilan antar muka sistem; </a:t>
            </a:r>
            <a:endParaRPr/>
          </a:p>
          <a:p>
            <a:pPr indent="0" lvl="0" marL="0" rtl="0" algn="l">
              <a:lnSpc>
                <a:spcPct val="100000"/>
              </a:lnSpc>
              <a:spcBef>
                <a:spcPts val="0"/>
              </a:spcBef>
              <a:spcAft>
                <a:spcPts val="0"/>
              </a:spcAft>
              <a:buSzPct val="108108"/>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4"/>
          <p:cNvSpPr txBox="1"/>
          <p:nvPr>
            <p:ph type="title"/>
          </p:nvPr>
        </p:nvSpPr>
        <p:spPr>
          <a:xfrm>
            <a:off x="311700" y="445025"/>
            <a:ext cx="8520600" cy="572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ID"/>
              <a:t>3. Result Prediction (Optional)</a:t>
            </a:r>
            <a:endParaRPr/>
          </a:p>
        </p:txBody>
      </p:sp>
      <p:sp>
        <p:nvSpPr>
          <p:cNvPr id="74" name="Google Shape;74;p4"/>
          <p:cNvSpPr txBox="1"/>
          <p:nvPr>
            <p:ph idx="1" type="body"/>
          </p:nvPr>
        </p:nvSpPr>
        <p:spPr>
          <a:xfrm>
            <a:off x="311700" y="1162310"/>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800"/>
              <a:buNone/>
            </a:pPr>
            <a:r>
              <a:rPr lang="en-ID" sz="1350"/>
              <a:t>Tuliskan prediksi hasil yang akan dicapai dalam jangka pendek maupun jangka panjang, termasuk dampak yang diharapkan terhadap penyelesaian permasalahan daerah, peningkatan efektivitas layanan publik, dan penguatan transformasi digital pemerintah daerah.</a:t>
            </a:r>
            <a:endParaRPr sz="1350"/>
          </a:p>
          <a:p>
            <a:pPr indent="0" lvl="0" marL="0" rtl="0" algn="l">
              <a:lnSpc>
                <a:spcPct val="100000"/>
              </a:lnSpc>
              <a:spcBef>
                <a:spcPts val="0"/>
              </a:spcBef>
              <a:spcAft>
                <a:spcPts val="0"/>
              </a:spcAft>
              <a:buSzPts val="1800"/>
              <a:buNone/>
            </a:pPr>
            <a:r>
              <a:t/>
            </a:r>
            <a:endParaRPr b="1" sz="1350"/>
          </a:p>
          <a:p>
            <a:pPr indent="0" lvl="0" marL="0" rtl="0" algn="l">
              <a:lnSpc>
                <a:spcPct val="100000"/>
              </a:lnSpc>
              <a:spcBef>
                <a:spcPts val="0"/>
              </a:spcBef>
              <a:spcAft>
                <a:spcPts val="0"/>
              </a:spcAft>
              <a:buSzPts val="1800"/>
              <a:buNone/>
            </a:pPr>
            <a:r>
              <a:rPr b="1" lang="en-ID" sz="1350"/>
              <a:t>Poin yang dapat dijelaskan:</a:t>
            </a:r>
            <a:endParaRPr sz="1350"/>
          </a:p>
          <a:p>
            <a:pPr indent="-314325" lvl="0" marL="457200" rtl="0" algn="l">
              <a:lnSpc>
                <a:spcPct val="115000"/>
              </a:lnSpc>
              <a:spcBef>
                <a:spcPts val="0"/>
              </a:spcBef>
              <a:spcAft>
                <a:spcPts val="0"/>
              </a:spcAft>
              <a:buSzPts val="1350"/>
              <a:buFont typeface="Arial"/>
              <a:buChar char="•"/>
            </a:pPr>
            <a:r>
              <a:rPr lang="en-ID" sz="1350"/>
              <a:t>Manfaat bagi masyarakat.</a:t>
            </a:r>
            <a:endParaRPr sz="1350"/>
          </a:p>
          <a:p>
            <a:pPr indent="-314325" lvl="0" marL="457200" rtl="0" algn="l">
              <a:lnSpc>
                <a:spcPct val="115000"/>
              </a:lnSpc>
              <a:spcBef>
                <a:spcPts val="0"/>
              </a:spcBef>
              <a:spcAft>
                <a:spcPts val="0"/>
              </a:spcAft>
              <a:buSzPts val="1350"/>
              <a:buFont typeface="Arial"/>
              <a:buChar char="•"/>
            </a:pPr>
            <a:r>
              <a:rPr lang="en-ID" sz="1350"/>
              <a:t>Manfaat bagi pemerintah daerah atau perangkat daerah terkait.</a:t>
            </a:r>
            <a:endParaRPr sz="1350"/>
          </a:p>
          <a:p>
            <a:pPr indent="-314325" lvl="0" marL="457200" rtl="0" algn="l">
              <a:lnSpc>
                <a:spcPct val="115000"/>
              </a:lnSpc>
              <a:spcBef>
                <a:spcPts val="0"/>
              </a:spcBef>
              <a:spcAft>
                <a:spcPts val="0"/>
              </a:spcAft>
              <a:buSzPts val="1350"/>
              <a:buFont typeface="Arial"/>
              <a:buChar char="•"/>
            </a:pPr>
            <a:r>
              <a:rPr lang="en-ID" sz="1350"/>
              <a:t>Potensi peningkatan kualitas pelayanan publik.</a:t>
            </a:r>
            <a:endParaRPr sz="1350"/>
          </a:p>
          <a:p>
            <a:pPr indent="-314325" lvl="0" marL="457200" rtl="0" algn="l">
              <a:lnSpc>
                <a:spcPct val="115000"/>
              </a:lnSpc>
              <a:spcBef>
                <a:spcPts val="0"/>
              </a:spcBef>
              <a:spcAft>
                <a:spcPts val="0"/>
              </a:spcAft>
              <a:buSzPts val="1350"/>
              <a:buFont typeface="Arial"/>
              <a:buChar char="•"/>
            </a:pPr>
            <a:r>
              <a:rPr lang="en-ID" sz="1350"/>
              <a:t>Potensi efisiensi waktu, biaya, atau proses kerja.</a:t>
            </a:r>
            <a:endParaRPr sz="1350"/>
          </a:p>
          <a:p>
            <a:pPr indent="-314325" lvl="0" marL="457200" rtl="0" algn="l">
              <a:lnSpc>
                <a:spcPct val="115000"/>
              </a:lnSpc>
              <a:spcBef>
                <a:spcPts val="0"/>
              </a:spcBef>
              <a:spcAft>
                <a:spcPts val="0"/>
              </a:spcAft>
              <a:buSzPts val="1350"/>
              <a:buFont typeface="Arial"/>
              <a:buChar char="•"/>
            </a:pPr>
            <a:r>
              <a:rPr lang="en-ID" sz="1350"/>
              <a:t>Indikator keberhasilan yang dapat diukur.</a:t>
            </a:r>
            <a:endParaRPr sz="1350"/>
          </a:p>
          <a:p>
            <a:pPr indent="-314325" lvl="0" marL="457200" rtl="0" algn="l">
              <a:lnSpc>
                <a:spcPct val="115000"/>
              </a:lnSpc>
              <a:spcBef>
                <a:spcPts val="0"/>
              </a:spcBef>
              <a:spcAft>
                <a:spcPts val="0"/>
              </a:spcAft>
              <a:buSzPts val="1350"/>
              <a:buFont typeface="Arial"/>
              <a:buChar char="•"/>
            </a:pPr>
            <a:r>
              <a:rPr lang="en-ID" sz="1350"/>
              <a:t>Potensi replikasi atau pengembangan di daerah lain.</a:t>
            </a:r>
            <a:endParaRPr sz="1350"/>
          </a:p>
          <a:p>
            <a:pPr indent="0" lvl="0" marL="0" rtl="0" algn="l">
              <a:lnSpc>
                <a:spcPct val="100000"/>
              </a:lnSpc>
              <a:spcBef>
                <a:spcPts val="0"/>
              </a:spcBef>
              <a:spcAft>
                <a:spcPts val="0"/>
              </a:spcAft>
              <a:buSzPts val="1800"/>
              <a:buNone/>
            </a:pPr>
            <a:r>
              <a:t/>
            </a:r>
            <a:endParaRPr sz="135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5"/>
          <p:cNvSpPr txBox="1"/>
          <p:nvPr>
            <p:ph type="title"/>
          </p:nvPr>
        </p:nvSpPr>
        <p:spPr>
          <a:xfrm>
            <a:off x="311700" y="445025"/>
            <a:ext cx="8520600" cy="572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ID"/>
              <a:t>4. References</a:t>
            </a:r>
            <a:endParaRPr b="1"/>
          </a:p>
        </p:txBody>
      </p:sp>
      <p:sp>
        <p:nvSpPr>
          <p:cNvPr id="80" name="Google Shape;80;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946"/>
              <a:buNone/>
            </a:pPr>
            <a:r>
              <a:rPr lang="en-ID" sz="1350"/>
              <a:t>Tuliskan sumber-sumber yang menjadi landasan dalam mengidentifikasi permasalahan, merumuskan solusi, serta memperkuat argumentasi dan kelayakan inovasi yang diusulkan. Referensi yang digunakan harus dapat dipertanggungjawabkan dan relevan dengan konteks permasalahan serta solusi yang diajukan.</a:t>
            </a:r>
            <a:endParaRPr sz="1350"/>
          </a:p>
          <a:p>
            <a:pPr indent="0" lvl="0" marL="0" rtl="0" algn="l">
              <a:lnSpc>
                <a:spcPct val="100000"/>
              </a:lnSpc>
              <a:spcBef>
                <a:spcPts val="0"/>
              </a:spcBef>
              <a:spcAft>
                <a:spcPts val="0"/>
              </a:spcAft>
              <a:buSzPts val="1946"/>
              <a:buNone/>
            </a:pPr>
            <a:r>
              <a:t/>
            </a:r>
            <a:endParaRPr b="1" sz="1350"/>
          </a:p>
          <a:p>
            <a:pPr indent="0" lvl="0" marL="0" rtl="0" algn="l">
              <a:lnSpc>
                <a:spcPct val="100000"/>
              </a:lnSpc>
              <a:spcBef>
                <a:spcPts val="0"/>
              </a:spcBef>
              <a:spcAft>
                <a:spcPts val="0"/>
              </a:spcAft>
              <a:buSzPts val="1946"/>
              <a:buNone/>
            </a:pPr>
            <a:r>
              <a:rPr b="1" lang="en-ID" sz="1350"/>
              <a:t>Poin yang dapat dicantumkan:</a:t>
            </a:r>
            <a:endParaRPr sz="1350"/>
          </a:p>
          <a:p>
            <a:pPr indent="-314325" lvl="0" marL="457200" rtl="0" algn="l">
              <a:lnSpc>
                <a:spcPct val="115000"/>
              </a:lnSpc>
              <a:spcBef>
                <a:spcPts val="0"/>
              </a:spcBef>
              <a:spcAft>
                <a:spcPts val="0"/>
              </a:spcAft>
              <a:buSzPts val="1350"/>
              <a:buFont typeface="Arial"/>
              <a:buChar char="•"/>
            </a:pPr>
            <a:r>
              <a:rPr lang="en-ID" sz="1350"/>
              <a:t>Peraturan perundang-undangan atau kebijakan pemerintah yang relevan.</a:t>
            </a:r>
            <a:endParaRPr sz="1350"/>
          </a:p>
          <a:p>
            <a:pPr indent="-314325" lvl="0" marL="457200" rtl="0" algn="l">
              <a:lnSpc>
                <a:spcPct val="115000"/>
              </a:lnSpc>
              <a:spcBef>
                <a:spcPts val="0"/>
              </a:spcBef>
              <a:spcAft>
                <a:spcPts val="0"/>
              </a:spcAft>
              <a:buSzPts val="1350"/>
              <a:buFont typeface="Arial"/>
              <a:buChar char="•"/>
            </a:pPr>
            <a:r>
              <a:rPr lang="en-ID" sz="1350"/>
              <a:t>Dokumen perencanaan daerah (RPJMD, Renstra, RKPD, dan lainnya).</a:t>
            </a:r>
            <a:endParaRPr sz="1350"/>
          </a:p>
          <a:p>
            <a:pPr indent="-314325" lvl="0" marL="457200" rtl="0" algn="l">
              <a:lnSpc>
                <a:spcPct val="115000"/>
              </a:lnSpc>
              <a:spcBef>
                <a:spcPts val="0"/>
              </a:spcBef>
              <a:spcAft>
                <a:spcPts val="0"/>
              </a:spcAft>
              <a:buSzPts val="1350"/>
              <a:buFont typeface="Arial"/>
              <a:buChar char="•"/>
            </a:pPr>
            <a:r>
              <a:rPr lang="en-ID" sz="1350"/>
              <a:t>Data statistik atau data sektoral.</a:t>
            </a:r>
            <a:endParaRPr sz="1350"/>
          </a:p>
          <a:p>
            <a:pPr indent="-314325" lvl="0" marL="457200" rtl="0" algn="l">
              <a:lnSpc>
                <a:spcPct val="115000"/>
              </a:lnSpc>
              <a:spcBef>
                <a:spcPts val="0"/>
              </a:spcBef>
              <a:spcAft>
                <a:spcPts val="0"/>
              </a:spcAft>
              <a:buSzPts val="1350"/>
              <a:buFont typeface="Arial"/>
              <a:buChar char="•"/>
            </a:pPr>
            <a:r>
              <a:rPr lang="en-ID" sz="1350"/>
              <a:t>Hasil kajian, penelitian, jurnal, atau publikasi ilmiah.</a:t>
            </a:r>
            <a:endParaRPr sz="1350"/>
          </a:p>
          <a:p>
            <a:pPr indent="-314325" lvl="0" marL="457200" rtl="0" algn="l">
              <a:lnSpc>
                <a:spcPct val="115000"/>
              </a:lnSpc>
              <a:spcBef>
                <a:spcPts val="0"/>
              </a:spcBef>
              <a:spcAft>
                <a:spcPts val="0"/>
              </a:spcAft>
              <a:buSzPts val="1350"/>
              <a:buFont typeface="Arial"/>
              <a:buChar char="•"/>
            </a:pPr>
            <a:r>
              <a:rPr lang="en-ID" sz="1350"/>
              <a:t>Laporan evaluasi, survei, atau studi kasus yang relevan.</a:t>
            </a:r>
            <a:endParaRPr sz="1350"/>
          </a:p>
          <a:p>
            <a:pPr indent="-314325" lvl="0" marL="457200" rtl="0" algn="l">
              <a:lnSpc>
                <a:spcPct val="115000"/>
              </a:lnSpc>
              <a:spcBef>
                <a:spcPts val="0"/>
              </a:spcBef>
              <a:spcAft>
                <a:spcPts val="0"/>
              </a:spcAft>
              <a:buSzPts val="1350"/>
              <a:buFont typeface="Arial"/>
              <a:buChar char="•"/>
            </a:pPr>
            <a:r>
              <a:rPr lang="en-ID" sz="1350"/>
              <a:t>Referensi teknologi, standar, atau praktik baik (best practices) dari instansi lain.</a:t>
            </a:r>
            <a:endParaRPr sz="1350"/>
          </a:p>
          <a:p>
            <a:pPr indent="0" lvl="0" marL="0" rtl="0" algn="l">
              <a:lnSpc>
                <a:spcPct val="100000"/>
              </a:lnSpc>
              <a:spcBef>
                <a:spcPts val="0"/>
              </a:spcBef>
              <a:spcAft>
                <a:spcPts val="0"/>
              </a:spcAft>
              <a:buSzPts val="1946"/>
              <a:buNone/>
            </a:pPr>
            <a:r>
              <a:t/>
            </a:r>
            <a:endParaRPr sz="135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